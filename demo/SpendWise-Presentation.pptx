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3ddd7ca-7a3c-1c0b-0589-1294410b56eb}">
          <p14:sldIdLst>
            <p14:sldId id="256"/>
            <p14:sldId id="257"/>
          </p14:sldIdLst>
        </p14:section>
        <p14:section name="Build" id="{73411b5e-76a9-e2f6-ff86-f5b93906ec57}">
          <p14:sldIdLst>
            <p14:sldId id="258"/>
            <p14:sldId id="259"/>
          </p14:sldIdLst>
        </p14:section>
        <p14:section name="Ship" id="{7d758fa2-0b7b-c7eb-0334-dd9cef9a069e}">
          <p14:sldIdLst>
            <p14:sldId id="260"/>
            <p14:sldId id="261"/>
          </p14:sldIdLst>
        </p14:section>
        <p14:section name="Run" id="{b2de3124-4158-04e8-af27-f7129ee5a58a}">
          <p14:sldIdLst>
            <p14:sldId id="262"/>
            <p14:sldId id="263"/>
            <p14:sldId id="264"/>
          </p14:sldIdLst>
        </p14:section>
        <p14:section name="Wrap-up" id="{d1e6cfed-e6e5-9388-8ea9-2f0fae05821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project. SpendWise is the app; the DevOps pipeline around it is the real subject.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SpendWise · DevSecOps Capstone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SpendWise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 personal expense tracker, shipped through a full DevSecOps pipeline: GitHub Actions · Trivy · Terraform · Kubernetes · Helm · ArgoCD · Prometheus · Grafana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Problem: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people lose track of small daily spending.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App: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log expenses by category, edit or delete them, and see totals per category.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Goal: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take that app from git push to a monitored, autoscaled Kubernetes deployment with no manual steps.</a:t>
            </a:r>
            <a:endParaRPr lang="en-US" sz="1500" dirty="0"/>
          </a:p>
        </p:txBody>
      </p:sp>
      <p:sp>
        <p:nvSpPr>
          <p:cNvPr id="4" name="stat-REST endpoints"/>
          <p:cNvSpPr/>
          <p:nvPr/>
        </p:nvSpPr>
        <p:spPr>
          <a:xfrm>
            <a:off x="4663440" y="11887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663440" y="13258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REST endpoints</a:t>
            </a:r>
            <a:endParaRPr lang="en-US" sz="1300" dirty="0"/>
          </a:p>
        </p:txBody>
      </p:sp>
      <p:sp>
        <p:nvSpPr>
          <p:cNvPr id="7" name="stat-pytest cases"/>
          <p:cNvSpPr/>
          <p:nvPr/>
        </p:nvSpPr>
        <p:spPr>
          <a:xfrm>
            <a:off x="6720840" y="11887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720840" y="13258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pytest cases</a:t>
            </a:r>
            <a:endParaRPr lang="en-US" sz="1300" dirty="0"/>
          </a:p>
        </p:txBody>
      </p:sp>
      <p:sp>
        <p:nvSpPr>
          <p:cNvPr id="10" name="stat-root containers"/>
          <p:cNvSpPr/>
          <p:nvPr/>
        </p:nvSpPr>
        <p:spPr>
          <a:xfrm>
            <a:off x="4663440" y="27889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63440" y="29260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root containers</a:t>
            </a:r>
            <a:endParaRPr lang="en-US" sz="1300" dirty="0"/>
          </a:p>
        </p:txBody>
      </p:sp>
      <p:sp>
        <p:nvSpPr>
          <p:cNvPr id="13" name="stat-Grafana panels"/>
          <p:cNvSpPr/>
          <p:nvPr/>
        </p:nvSpPr>
        <p:spPr>
          <a:xfrm>
            <a:off x="6720840" y="2788920"/>
            <a:ext cx="1874520" cy="1417320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20840" y="292608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033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Grafana panels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000" dirty="0"/>
          </a:p>
        </p:txBody>
      </p:sp>
      <p:sp>
        <p:nvSpPr>
          <p:cNvPr id="3" name="stack-App"/>
          <p:cNvSpPr/>
          <p:nvPr/>
        </p:nvSpPr>
        <p:spPr>
          <a:xfrm>
            <a:off x="45720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-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App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React 18 + Vite · FastAPI · SQLAlchemy · PostgreSQL 16 · Alembic</a:t>
            </a:r>
            <a:endParaRPr lang="en-US" sz="1200" dirty="0"/>
          </a:p>
        </p:txBody>
      </p:sp>
      <p:sp>
        <p:nvSpPr>
          <p:cNvPr id="8" name="stack-Quality"/>
          <p:cNvSpPr/>
          <p:nvPr/>
        </p:nvSpPr>
        <p:spPr>
          <a:xfrm>
            <a:off x="324612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-2"/>
          <p:cNvSpPr/>
          <p:nvPr/>
        </p:nvSpPr>
        <p:spPr>
          <a:xfrm>
            <a:off x="3429000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290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8745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pytest + TestClient on isolated SQLite · Pydantic validation</a:t>
            </a:r>
            <a:endParaRPr lang="en-US" sz="1200" dirty="0"/>
          </a:p>
        </p:txBody>
      </p:sp>
      <p:sp>
        <p:nvSpPr>
          <p:cNvPr id="13" name="stack-Containers"/>
          <p:cNvSpPr/>
          <p:nvPr/>
        </p:nvSpPr>
        <p:spPr>
          <a:xfrm>
            <a:off x="6035040" y="118872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-3"/>
          <p:cNvSpPr/>
          <p:nvPr/>
        </p:nvSpPr>
        <p:spPr>
          <a:xfrm>
            <a:off x="6217920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3716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Containers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8745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Docker multi-stage · nginx-unprivileged · Docker Compose</a:t>
            </a:r>
            <a:endParaRPr lang="en-US" sz="1200" dirty="0"/>
          </a:p>
        </p:txBody>
      </p:sp>
      <p:sp>
        <p:nvSpPr>
          <p:cNvPr id="18" name="stack-CI/CD + Sec"/>
          <p:cNvSpPr/>
          <p:nvPr/>
        </p:nvSpPr>
        <p:spPr>
          <a:xfrm>
            <a:off x="45720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-4"/>
          <p:cNvSpPr/>
          <p:nvPr/>
        </p:nvSpPr>
        <p:spPr>
          <a:xfrm>
            <a:off x="640080" y="3063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63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CI/CD + Sec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GitHub Actions · Trivy · GHCR with SHA tags</a:t>
            </a:r>
            <a:endParaRPr lang="en-US" sz="1200" dirty="0"/>
          </a:p>
        </p:txBody>
      </p:sp>
      <p:sp>
        <p:nvSpPr>
          <p:cNvPr id="23" name="stack-Infra"/>
          <p:cNvSpPr/>
          <p:nvPr/>
        </p:nvSpPr>
        <p:spPr>
          <a:xfrm>
            <a:off x="324612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badge-5"/>
          <p:cNvSpPr/>
          <p:nvPr/>
        </p:nvSpPr>
        <p:spPr>
          <a:xfrm>
            <a:off x="3429000" y="3063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4290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063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Infra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Terraform · kind (Kubernetes 1.35) · AWS VPC + EKS code</a:t>
            </a:r>
            <a:endParaRPr lang="en-US" sz="1200" dirty="0"/>
          </a:p>
        </p:txBody>
      </p:sp>
      <p:sp>
        <p:nvSpPr>
          <p:cNvPr id="28" name="stack-Deploy + Obs"/>
          <p:cNvSpPr/>
          <p:nvPr/>
        </p:nvSpPr>
        <p:spPr>
          <a:xfrm>
            <a:off x="6035040" y="2880360"/>
            <a:ext cx="260604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badge-6"/>
          <p:cNvSpPr/>
          <p:nvPr/>
        </p:nvSpPr>
        <p:spPr>
          <a:xfrm>
            <a:off x="6217920" y="3063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306324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Deploy + Obs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Helm · ArgoCD · NGINX Ingress · Prometheus · Grafana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aws-frame"/>
          <p:cNvSpPr/>
          <p:nvPr/>
        </p:nvSpPr>
        <p:spPr>
          <a:xfrm>
            <a:off x="2057400" y="1097280"/>
            <a:ext cx="662940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194560" y="1161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Kubernetes cluster (kind, provisioned by Terraform)</a:t>
            </a:r>
            <a:endParaRPr lang="en-US" sz="1100" dirty="0"/>
          </a:p>
        </p:txBody>
      </p:sp>
      <p:sp>
        <p:nvSpPr>
          <p:cNvPr id="5" name="box-User"/>
          <p:cNvSpPr/>
          <p:nvPr/>
        </p:nvSpPr>
        <p:spPr>
          <a:xfrm>
            <a:off x="457200" y="2331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31720"/>
            <a:ext cx="12344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User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localhost</a:t>
            </a:r>
            <a:endParaRPr lang="en-US" sz="1200" dirty="0"/>
          </a:p>
        </p:txBody>
      </p:sp>
      <p:sp>
        <p:nvSpPr>
          <p:cNvPr id="7" name="box-Ingress"/>
          <p:cNvSpPr/>
          <p:nvPr/>
        </p:nvSpPr>
        <p:spPr>
          <a:xfrm>
            <a:off x="2331720" y="233172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31720" y="2331720"/>
            <a:ext cx="12344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Ingress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NGINX</a:t>
            </a:r>
            <a:endParaRPr lang="en-US" sz="1200" dirty="0"/>
          </a:p>
        </p:txBody>
      </p:sp>
      <p:sp>
        <p:nvSpPr>
          <p:cNvPr id="9" name="box-Frontend ×2"/>
          <p:cNvSpPr/>
          <p:nvPr/>
        </p:nvSpPr>
        <p:spPr>
          <a:xfrm>
            <a:off x="4114800" y="16002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Frontend ×2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React on nginx</a:t>
            </a:r>
            <a:endParaRPr lang="en-US" sz="1200" dirty="0"/>
          </a:p>
        </p:txBody>
      </p:sp>
      <p:sp>
        <p:nvSpPr>
          <p:cNvPr id="11" name="box-Backend ×2"/>
          <p:cNvSpPr/>
          <p:nvPr/>
        </p:nvSpPr>
        <p:spPr>
          <a:xfrm>
            <a:off x="4114800" y="306324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0" y="3063240"/>
            <a:ext cx="146304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Backend ×2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FastAPI</a:t>
            </a:r>
            <a:endParaRPr lang="en-US" sz="1200" dirty="0"/>
          </a:p>
        </p:txBody>
      </p:sp>
      <p:sp>
        <p:nvSpPr>
          <p:cNvPr id="13" name="box-PostgreSQL"/>
          <p:cNvSpPr/>
          <p:nvPr/>
        </p:nvSpPr>
        <p:spPr>
          <a:xfrm>
            <a:off x="6217920" y="30632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3063240"/>
            <a:ext cx="12801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StatefulSet + PVC</a:t>
            </a:r>
            <a:endParaRPr lang="en-US" sz="1200" dirty="0"/>
          </a:p>
        </p:txBody>
      </p:sp>
      <p:sp>
        <p:nvSpPr>
          <p:cNvPr id="15" name="box-Prometheus"/>
          <p:cNvSpPr/>
          <p:nvPr/>
        </p:nvSpPr>
        <p:spPr>
          <a:xfrm>
            <a:off x="6217920" y="160020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12801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Prometheus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+ Grafana</a:t>
            </a:r>
            <a:endParaRPr lang="en-US" sz="1200" dirty="0"/>
          </a:p>
        </p:txBody>
      </p:sp>
      <p:sp>
        <p:nvSpPr>
          <p:cNvPr id="17" name="box-ArgoCD"/>
          <p:cNvSpPr/>
          <p:nvPr/>
        </p:nvSpPr>
        <p:spPr>
          <a:xfrm>
            <a:off x="7635240" y="23317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ArgoCD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GitOps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91640" y="2697480"/>
            <a:ext cx="6400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3566160" y="1965960"/>
            <a:ext cx="548640" cy="5943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703320" y="20116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/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2834640"/>
            <a:ext cx="548640" cy="5943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11880" y="31546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/api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577840" y="3429000"/>
            <a:ext cx="6400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5577840" y="2148840"/>
            <a:ext cx="640080" cy="100584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669280" y="25146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scrape /metrics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194560" y="4160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Images pulled from GHCR (tag = commit SHA). ArgoCD syncs the Helm chart from Git.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pipeline: GitHub Actions</a:t>
            </a:r>
            <a:endParaRPr lang="en-US" sz="3000" dirty="0"/>
          </a:p>
        </p:txBody>
      </p:sp>
      <p:sp>
        <p:nvSpPr>
          <p:cNvPr id="3" name="step-Test"/>
          <p:cNvSpPr/>
          <p:nvPr/>
        </p:nvSpPr>
        <p:spPr>
          <a:xfrm>
            <a:off x="457200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-1"/>
          <p:cNvSpPr/>
          <p:nvPr/>
        </p:nvSpPr>
        <p:spPr>
          <a:xfrm>
            <a:off x="1014984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14984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Test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pytest -v and the frontend build. Any failure stops the pipeline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75104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tep-Build"/>
          <p:cNvSpPr/>
          <p:nvPr/>
        </p:nvSpPr>
        <p:spPr>
          <a:xfrm>
            <a:off x="2139696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badge-2"/>
          <p:cNvSpPr/>
          <p:nvPr/>
        </p:nvSpPr>
        <p:spPr>
          <a:xfrm>
            <a:off x="269748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974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39696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Build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docker build of the backend and frontend in a matrix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0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step-Scan"/>
          <p:cNvSpPr/>
          <p:nvPr/>
        </p:nvSpPr>
        <p:spPr>
          <a:xfrm>
            <a:off x="3822192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badge-3"/>
          <p:cNvSpPr/>
          <p:nvPr/>
        </p:nvSpPr>
        <p:spPr>
          <a:xfrm>
            <a:off x="4379976" y="150876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7997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822192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Scan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Trivy: HIGH/CRITICAL fixable CVEs fail the build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40096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step-Push"/>
          <p:cNvSpPr/>
          <p:nvPr/>
        </p:nvSpPr>
        <p:spPr>
          <a:xfrm>
            <a:off x="5504688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badge-4"/>
          <p:cNvSpPr/>
          <p:nvPr/>
        </p:nvSpPr>
        <p:spPr>
          <a:xfrm>
            <a:off x="6062472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624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04688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Push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to GHCR as :&lt;commit-sha&gt;, never :latest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022592" y="2578608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step-GitOps"/>
          <p:cNvSpPr/>
          <p:nvPr/>
        </p:nvSpPr>
        <p:spPr>
          <a:xfrm>
            <a:off x="7187184" y="1325880"/>
            <a:ext cx="1499616" cy="2514600"/>
          </a:xfrm>
          <a:prstGeom prst="roundRect">
            <a:avLst>
              <a:gd name="adj" fmla="val 60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badge-5"/>
          <p:cNvSpPr/>
          <p:nvPr/>
        </p:nvSpPr>
        <p:spPr>
          <a:xfrm>
            <a:off x="7744968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4496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87184" y="20116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GitOps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468880"/>
            <a:ext cx="12252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bot commits the new tag to values.yaml; ArgoCD syncs it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Runs on every push to main and every pull request. Pull requests build and scan but do not push or deploy.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DevSecOps: security built in</a:t>
            </a:r>
            <a:endParaRPr lang="en-US" sz="3000" dirty="0"/>
          </a:p>
        </p:txBody>
      </p:sp>
      <p:sp>
        <p:nvSpPr>
          <p:cNvPr id="3" name="trivy-card"/>
          <p:cNvSpPr/>
          <p:nvPr/>
        </p:nvSpPr>
        <p:spPr>
          <a:xfrm>
            <a:off x="457200" y="1188720"/>
            <a:ext cx="3931920" cy="3246120"/>
          </a:xfrm>
          <a:prstGeom prst="roundRect">
            <a:avLst>
              <a:gd name="adj" fmla="val 281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Trivy gate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Scans the OS packages and the app dependencies of both images. Any HIGH or CRITICAL CVE that has a fix fails the pipeline, so only clean images reach GHCR.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546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First run: 7 HIGH CVEs in the backend (e.g. CVE-2025-62727, a Starlette DoS). Fixed by upgrading and using a multi-stage build. Now 0 HIGH/CRITICAL.</a:t>
            </a:r>
            <a:endParaRPr lang="en-US" sz="1300" dirty="0"/>
          </a:p>
        </p:txBody>
      </p:sp>
      <p:sp>
        <p:nvSpPr>
          <p:cNvPr id="7" name="badge-✓"/>
          <p:cNvSpPr/>
          <p:nvPr/>
        </p:nvSpPr>
        <p:spPr>
          <a:xfrm>
            <a:off x="4709160" y="123444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0916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1887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Non-root containers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49961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UID 10001 / 101, all capabilities dropped, seccomp RuntimeDefault</a:t>
            </a:r>
            <a:endParaRPr lang="en-US" sz="1200" dirty="0"/>
          </a:p>
        </p:txBody>
      </p:sp>
      <p:sp>
        <p:nvSpPr>
          <p:cNvPr id="11" name="badge-✓"/>
          <p:cNvSpPr/>
          <p:nvPr/>
        </p:nvSpPr>
        <p:spPr>
          <a:xfrm>
            <a:off x="4709160" y="20574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0916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20116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 secrets in Git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3225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GITHUB_TOKEN for GHCR; .env, tfvars and tfstate are git-ignored</a:t>
            </a:r>
            <a:endParaRPr lang="en-US" sz="1200" dirty="0"/>
          </a:p>
        </p:txBody>
      </p:sp>
      <p:sp>
        <p:nvSpPr>
          <p:cNvPr id="15" name="badge-✓"/>
          <p:cNvSpPr/>
          <p:nvPr/>
        </p:nvSpPr>
        <p:spPr>
          <a:xfrm>
            <a:off x="4709160" y="288036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8346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Least privilege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14553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per-job workflow permissions; secrets in Kubernetes Secrets</a:t>
            </a:r>
            <a:endParaRPr lang="en-US" sz="1200" dirty="0"/>
          </a:p>
        </p:txBody>
      </p:sp>
      <p:sp>
        <p:nvSpPr>
          <p:cNvPr id="19" name="badge-✓"/>
          <p:cNvSpPr/>
          <p:nvPr/>
        </p:nvSpPr>
        <p:spPr>
          <a:xfrm>
            <a:off x="4709160" y="370332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09160" y="3703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12080" y="3657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Immutable tags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39684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every pod traces back to the commit that built 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as code: Terraform</a:t>
            </a:r>
            <a:endParaRPr lang="en-US" sz="3000" dirty="0"/>
          </a:p>
        </p:txBody>
      </p:sp>
      <p:sp>
        <p:nvSpPr>
          <p:cNvPr id="3" name="tf-local"/>
          <p:cNvSpPr/>
          <p:nvPr/>
        </p:nvSpPr>
        <p:spPr>
          <a:xfrm>
            <a:off x="457200" y="1143000"/>
            <a:ext cx="3977640" cy="3291840"/>
          </a:xfrm>
          <a:prstGeom prst="roundRect">
            <a:avLst>
              <a:gd name="adj" fmla="val 2778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terraform/local: applied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kind cluster (Kubernetes 1.35)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ingress-nginx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metrics-server (feeds the HPA)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kube-prometheus-stack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ArgoCD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703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init → plan (5 to add) → apply → destroy</a:t>
            </a:r>
            <a:endParaRPr lang="en-US" sz="1300" dirty="0"/>
          </a:p>
        </p:txBody>
      </p:sp>
      <p:sp>
        <p:nvSpPr>
          <p:cNvPr id="7" name="tf-aws"/>
          <p:cNvSpPr/>
          <p:nvPr/>
        </p:nvSpPr>
        <p:spPr>
          <a:xfrm>
            <a:off x="4709160" y="1143000"/>
            <a:ext cx="3977640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terraform/: AWS target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73736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VPC 10.0.0.0/16 across 2 AZs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2 public + 2 private subnets, NAT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EKS + managed node group (2 × t3.medium)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EBS CSI driver via IRSA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520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Written and validated. Apply is blocked until the AWS account activates.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Kubernetes: Helm + ArgoCD</a:t>
            </a:r>
            <a:endParaRPr lang="en-US" sz="3000" dirty="0"/>
          </a:p>
        </p:txBody>
      </p:sp>
      <p:sp>
        <p:nvSpPr>
          <p:cNvPr id="3" name="k8s-Deployments"/>
          <p:cNvSpPr/>
          <p:nvPr/>
        </p:nvSpPr>
        <p:spPr>
          <a:xfrm>
            <a:off x="457200" y="118872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Deployments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backend and frontend with 2 replicas each, HPA 2→5 on CPU, rolling updates, readiness and liveness probes</a:t>
            </a:r>
            <a:endParaRPr lang="en-US" sz="1200" dirty="0"/>
          </a:p>
        </p:txBody>
      </p:sp>
      <p:sp>
        <p:nvSpPr>
          <p:cNvPr id="6" name="k8s-Services"/>
          <p:cNvSpPr/>
          <p:nvPr/>
        </p:nvSpPr>
        <p:spPr>
          <a:xfrm>
            <a:off x="3063240" y="118872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246120" y="13258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Services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169164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ClusterIP for the backend :8000, frontend :80 and postgres :5432</a:t>
            </a:r>
            <a:endParaRPr lang="en-US" sz="1200" dirty="0"/>
          </a:p>
        </p:txBody>
      </p:sp>
      <p:sp>
        <p:nvSpPr>
          <p:cNvPr id="9" name="k8s-Ingress"/>
          <p:cNvSpPr/>
          <p:nvPr/>
        </p:nvSpPr>
        <p:spPr>
          <a:xfrm>
            <a:off x="457200" y="283464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Ingress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3756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NGINX routes / to the frontend and /api to the backend, served on localhost</a:t>
            </a:r>
            <a:endParaRPr lang="en-US" sz="1200" dirty="0"/>
          </a:p>
        </p:txBody>
      </p:sp>
      <p:sp>
        <p:nvSpPr>
          <p:cNvPr id="12" name="k8s-Data"/>
          <p:cNvSpPr/>
          <p:nvPr/>
        </p:nvSpPr>
        <p:spPr>
          <a:xfrm>
            <a:off x="3063240" y="2834640"/>
            <a:ext cx="2423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246120" y="29718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333756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Postgres StatefulSet on a persistent volume; credentials in a Secret</a:t>
            </a:r>
            <a:endParaRPr lang="en-US" sz="1200" dirty="0"/>
          </a:p>
        </p:txBody>
      </p:sp>
      <p:sp>
        <p:nvSpPr>
          <p:cNvPr id="15" name="gitops"/>
          <p:cNvSpPr/>
          <p:nvPr/>
        </p:nvSpPr>
        <p:spPr>
          <a:xfrm>
            <a:off x="5806440" y="1188720"/>
            <a:ext cx="2880360" cy="3108960"/>
          </a:xfrm>
          <a:prstGeom prst="roundRect">
            <a:avLst>
              <a:gd name="adj" fmla="val 31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0350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loop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1783080"/>
            <a:ext cx="2514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CI pushes the image :sha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CI commits the tag to values.yaml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ArgoCD detects the drift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Helm renders and does a rolling update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bg2"/>
                </a:solidFill>
              </a:rPr>
              <a:t>selfHeal reverts any manual changes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Observability: Prometheus + Grafana</a:t>
            </a:r>
            <a:endParaRPr lang="en-US" sz="3000" dirty="0"/>
          </a:p>
        </p:txBody>
      </p:sp>
      <p:sp>
        <p:nvSpPr>
          <p:cNvPr id="3" name="box-FastAPI /metrics"/>
          <p:cNvSpPr/>
          <p:nvPr/>
        </p:nvSpPr>
        <p:spPr>
          <a:xfrm>
            <a:off x="457200" y="137160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FastAPI /metrics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instrumentator</a:t>
            </a:r>
            <a:endParaRPr lang="en-US" sz="1200" dirty="0"/>
          </a:p>
        </p:txBody>
      </p:sp>
      <p:sp>
        <p:nvSpPr>
          <p:cNvPr id="5" name="box-ServiceMonitor"/>
          <p:cNvSpPr/>
          <p:nvPr/>
        </p:nvSpPr>
        <p:spPr>
          <a:xfrm>
            <a:off x="2743200" y="137160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43200" y="1371600"/>
            <a:ext cx="17373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ServiceMonitor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scrape every 15 s</a:t>
            </a:r>
            <a:endParaRPr lang="en-US" sz="1200" dirty="0"/>
          </a:p>
        </p:txBody>
      </p:sp>
      <p:sp>
        <p:nvSpPr>
          <p:cNvPr id="7" name="box-Prometheus"/>
          <p:cNvSpPr/>
          <p:nvPr/>
        </p:nvSpPr>
        <p:spPr>
          <a:xfrm>
            <a:off x="5029200" y="1371600"/>
            <a:ext cx="155448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0" y="1371600"/>
            <a:ext cx="1554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Prometheus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kube-prom-stack</a:t>
            </a:r>
            <a:endParaRPr lang="en-US" sz="1200" dirty="0"/>
          </a:p>
        </p:txBody>
      </p:sp>
      <p:sp>
        <p:nvSpPr>
          <p:cNvPr id="9" name="box-Grafana"/>
          <p:cNvSpPr/>
          <p:nvPr/>
        </p:nvSpPr>
        <p:spPr>
          <a:xfrm>
            <a:off x="7132320" y="1371600"/>
            <a:ext cx="155448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371600"/>
            <a:ext cx="1554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Grafana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dashboard as code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94560" y="1783080"/>
            <a:ext cx="5486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480560" y="1783080"/>
            <a:ext cx="5486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1783080"/>
            <a:ext cx="5486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panel-Request rate"/>
          <p:cNvSpPr/>
          <p:nvPr/>
        </p:nvSpPr>
        <p:spPr>
          <a:xfrm>
            <a:off x="45720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Request rate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req/s per endpoint</a:t>
            </a:r>
            <a:endParaRPr lang="en-US" sz="1200" dirty="0"/>
          </a:p>
        </p:txBody>
      </p:sp>
      <p:sp>
        <p:nvSpPr>
          <p:cNvPr id="17" name="panel-p95 latency"/>
          <p:cNvSpPr/>
          <p:nvPr/>
        </p:nvSpPr>
        <p:spPr>
          <a:xfrm>
            <a:off x="256032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274320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p95 latency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74320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histogram_quantile</a:t>
            </a:r>
            <a:endParaRPr lang="en-US" sz="1200" dirty="0"/>
          </a:p>
        </p:txBody>
      </p:sp>
      <p:sp>
        <p:nvSpPr>
          <p:cNvPr id="20" name="panel-Error rate"/>
          <p:cNvSpPr/>
          <p:nvPr/>
        </p:nvSpPr>
        <p:spPr>
          <a:xfrm>
            <a:off x="466344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Error rate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5xx as % of traffic</a:t>
            </a:r>
            <a:endParaRPr lang="en-US" sz="1200" dirty="0"/>
          </a:p>
        </p:txBody>
      </p:sp>
      <p:sp>
        <p:nvSpPr>
          <p:cNvPr id="23" name="panel-Status mix"/>
          <p:cNvSpPr/>
          <p:nvPr/>
        </p:nvSpPr>
        <p:spPr>
          <a:xfrm>
            <a:off x="6766560" y="2651760"/>
            <a:ext cx="192024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94944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Status mix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200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2xx / 4xx / 5xx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The dashboard ships as a ConfigMap, and Grafana's sidecar loads it automatically. scripts/load-test.sh generates traffic for the demo.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learnings and next steps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Shift left: tests and Trivy run before anything is pushed or deployed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Git is the single source of truth: SHA tags plus ArgoCD give auditable, reversible deploys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Non-root and least-privilege defaults cost little when set up from day one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Terraform can manage local platforms too: one apply builds the whole cluster stack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Keep a local fallback: cloud accounts can be blocked by activation or billing</a:t>
            </a:r>
            <a:endParaRPr lang="en-US" sz="1500" dirty="0"/>
          </a:p>
        </p:txBody>
      </p:sp>
      <p:sp>
        <p:nvSpPr>
          <p:cNvPr id="4" name="next"/>
          <p:cNvSpPr/>
          <p:nvPr/>
        </p:nvSpPr>
        <p:spPr>
          <a:xfrm>
            <a:off x="5577840" y="1188720"/>
            <a:ext cx="3108960" cy="324612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806440" y="1325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783080"/>
            <a:ext cx="2697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Apply the AWS Terraform (VPC + EKS)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User auth (OAuth2 + JWT)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TLS with cert-manager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Managed database (Amazon RDS)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4"/>
                </a:solidFill>
              </a:rPr>
              <a:t>External Secrets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endWise">
  <a:themeElements>
    <a:clrScheme name="SpendWise">
      <a:dk1>
        <a:srgbClr val="1D2330"/>
      </a:dk1>
      <a:lt1>
        <a:srgbClr val="FFFFFF"/>
      </a:lt1>
      <a:dk2>
        <a:srgbClr val="0B3B37"/>
      </a:dk2>
      <a:lt2>
        <a:srgbClr val="EAF3F1"/>
      </a:lt2>
      <a:accent1>
        <a:srgbClr val="0F766E"/>
      </a:accent1>
      <a:accent2>
        <a:srgbClr val="5EEAD4"/>
      </a:accent2>
      <a:accent3>
        <a:srgbClr val="F59E0B"/>
      </a:accent3>
      <a:accent4>
        <a:srgbClr val="334155"/>
      </a:accent4>
      <a:accent5>
        <a:srgbClr val="64748B"/>
      </a:accent5>
      <a:accent6>
        <a:srgbClr val="B42318"/>
      </a:accent6>
      <a:hlink>
        <a:srgbClr val="0F766E"/>
      </a:hlink>
      <a:folHlink>
        <a:srgbClr val="334155"/>
      </a:folHlink>
    </a:clrScheme>
    <a:fontScheme name="SpendWi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SpendWise — DevSecOps Capstone</dc:title>
  <dc:subject>PptxGenJS Presentation</dc:subject>
  <dc:creator>SpendWise team</dc:creator>
  <cp:lastModifiedBy>SpendWise team</cp:lastModifiedBy>
  <cp:revision>1</cp:revision>
  <dcterms:created xsi:type="dcterms:W3CDTF">2026-10-16T06:49:32Z</dcterms:created>
  <dcterms:modified xsi:type="dcterms:W3CDTF">2026-10-16T06:49:32Z</dcterms:modified>
</cp:coreProperties>
</file>