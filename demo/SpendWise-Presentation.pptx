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b52a0fc-c212-8f84-9149-2b7ba09c4f01}">
          <p14:sldIdLst>
            <p14:sldId id="256"/>
            <p14:sldId id="257"/>
          </p14:sldIdLst>
        </p14:section>
        <p14:section name="Build" id="{23bd8d79-ab65-bdec-864b-8b4141a03163}">
          <p14:sldIdLst>
            <p14:sldId id="258"/>
            <p14:sldId id="259"/>
          </p14:sldIdLst>
        </p14:section>
        <p14:section name="Ship" id="{0897631e-f7f0-91ee-59a6-d557b27923c0}">
          <p14:sldIdLst>
            <p14:sldId id="260"/>
            <p14:sldId id="261"/>
          </p14:sldIdLst>
        </p14:section>
        <p14:section name="Run" id="{f020556e-6ff1-365e-47c6-545625e5e632}">
          <p14:sldIdLst>
            <p14:sldId id="262"/>
            <p14:sldId id="263"/>
            <p14:sldId id="264"/>
          </p14:sldIdLst>
        </p14:section>
        <p14:section name="Wrap-up" id="{71316eb5-fb86-a804-5864-d9c574009ed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 SpendWise is the app; the DevOps pipeline around it is the real subject.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SpendWise · DevSecOps Capstone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SpendWise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603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A personal expense tracker, shipped through a full DevSecOps pipeline: GitHub Actions · Trivy · Terraform · EKS · Helm · ArgoCD · Prometheus · Grafana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Problem: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people lose track of small daily spending.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App: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log expenses by category, edit or delete them, and see totals per category.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Goal: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take that app from git push to a monitored, autoscaled Kubernetes deployment on AWS with no manual steps.</a:t>
            </a:r>
            <a:endParaRPr lang="en-US" sz="1500" dirty="0"/>
          </a:p>
        </p:txBody>
      </p:sp>
      <p:sp>
        <p:nvSpPr>
          <p:cNvPr id="4" name="stat-REST endpoints"/>
          <p:cNvSpPr/>
          <p:nvPr/>
        </p:nvSpPr>
        <p:spPr>
          <a:xfrm>
            <a:off x="4663440" y="118872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63440" y="13258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REST endpoints</a:t>
            </a:r>
            <a:endParaRPr lang="en-US" sz="1300" dirty="0"/>
          </a:p>
        </p:txBody>
      </p:sp>
      <p:sp>
        <p:nvSpPr>
          <p:cNvPr id="7" name="stat-pytest cases"/>
          <p:cNvSpPr/>
          <p:nvPr/>
        </p:nvSpPr>
        <p:spPr>
          <a:xfrm>
            <a:off x="6720840" y="118872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20840" y="13258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6720840" y="2103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pytest cases</a:t>
            </a:r>
            <a:endParaRPr lang="en-US" sz="1300" dirty="0"/>
          </a:p>
        </p:txBody>
      </p:sp>
      <p:sp>
        <p:nvSpPr>
          <p:cNvPr id="10" name="stat-root containers"/>
          <p:cNvSpPr/>
          <p:nvPr/>
        </p:nvSpPr>
        <p:spPr>
          <a:xfrm>
            <a:off x="4663440" y="278892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6344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root containers</a:t>
            </a:r>
            <a:endParaRPr lang="en-US" sz="1300" dirty="0"/>
          </a:p>
        </p:txBody>
      </p:sp>
      <p:sp>
        <p:nvSpPr>
          <p:cNvPr id="13" name="stat-Grafana panels"/>
          <p:cNvSpPr/>
          <p:nvPr/>
        </p:nvSpPr>
        <p:spPr>
          <a:xfrm>
            <a:off x="6720840" y="2788920"/>
            <a:ext cx="187452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20840" y="2926080"/>
            <a:ext cx="1874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703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Grafana panels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000" dirty="0"/>
          </a:p>
        </p:txBody>
      </p:sp>
      <p:sp>
        <p:nvSpPr>
          <p:cNvPr id="3" name="stack-App"/>
          <p:cNvSpPr/>
          <p:nvPr/>
        </p:nvSpPr>
        <p:spPr>
          <a:xfrm>
            <a:off x="45720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App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React 18 + Vite · FastAPI · SQLAlchemy · PostgreSQL 16 · Alembic</a:t>
            </a:r>
            <a:endParaRPr lang="en-US" sz="1200" dirty="0"/>
          </a:p>
        </p:txBody>
      </p:sp>
      <p:sp>
        <p:nvSpPr>
          <p:cNvPr id="8" name="stack-Quality"/>
          <p:cNvSpPr/>
          <p:nvPr/>
        </p:nvSpPr>
        <p:spPr>
          <a:xfrm>
            <a:off x="324612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-2"/>
          <p:cNvSpPr/>
          <p:nvPr/>
        </p:nvSpPr>
        <p:spPr>
          <a:xfrm>
            <a:off x="342900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Quality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pytest + TestClient on isolated SQLite · Pydantic validation</a:t>
            </a:r>
            <a:endParaRPr lang="en-US" sz="1200" dirty="0"/>
          </a:p>
        </p:txBody>
      </p:sp>
      <p:sp>
        <p:nvSpPr>
          <p:cNvPr id="13" name="stack-Containers"/>
          <p:cNvSpPr/>
          <p:nvPr/>
        </p:nvSpPr>
        <p:spPr>
          <a:xfrm>
            <a:off x="6035040" y="118872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-3"/>
          <p:cNvSpPr/>
          <p:nvPr/>
        </p:nvSpPr>
        <p:spPr>
          <a:xfrm>
            <a:off x="6217920" y="13716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1371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Containers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87452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Docker multi-stage · nginx-unprivileged · Docker Compose</a:t>
            </a:r>
            <a:endParaRPr lang="en-US" sz="1200" dirty="0"/>
          </a:p>
        </p:txBody>
      </p:sp>
      <p:sp>
        <p:nvSpPr>
          <p:cNvPr id="18" name="stack-CI/CD + Sec"/>
          <p:cNvSpPr/>
          <p:nvPr/>
        </p:nvSpPr>
        <p:spPr>
          <a:xfrm>
            <a:off x="45720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-4"/>
          <p:cNvSpPr/>
          <p:nvPr/>
        </p:nvSpPr>
        <p:spPr>
          <a:xfrm>
            <a:off x="64008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CI/CD + Sec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GitHub Actions · Trivy · GHCR with SHA tags</a:t>
            </a:r>
            <a:endParaRPr lang="en-US" sz="1200" dirty="0"/>
          </a:p>
        </p:txBody>
      </p:sp>
      <p:sp>
        <p:nvSpPr>
          <p:cNvPr id="23" name="stack-Infra"/>
          <p:cNvSpPr/>
          <p:nvPr/>
        </p:nvSpPr>
        <p:spPr>
          <a:xfrm>
            <a:off x="324612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-5"/>
          <p:cNvSpPr/>
          <p:nvPr/>
        </p:nvSpPr>
        <p:spPr>
          <a:xfrm>
            <a:off x="342900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42900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393192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Infra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42900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Terraform · AWS VPC · EKS · EBS CSI · IAM (IRSA)</a:t>
            </a:r>
            <a:endParaRPr lang="en-US" sz="1200" dirty="0"/>
          </a:p>
        </p:txBody>
      </p:sp>
      <p:sp>
        <p:nvSpPr>
          <p:cNvPr id="28" name="stack-Deploy + Obs"/>
          <p:cNvSpPr/>
          <p:nvPr/>
        </p:nvSpPr>
        <p:spPr>
          <a:xfrm>
            <a:off x="6035040" y="2880360"/>
            <a:ext cx="260604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-6"/>
          <p:cNvSpPr/>
          <p:nvPr/>
        </p:nvSpPr>
        <p:spPr>
          <a:xfrm>
            <a:off x="6217920" y="3063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217920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30632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 + Obs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56616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Helm · ArgoCD · NGINX Ingress · Prometheus · Grafana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000" dirty="0"/>
          </a:p>
        </p:txBody>
      </p:sp>
      <p:sp>
        <p:nvSpPr>
          <p:cNvPr id="3" name="aws-frame"/>
          <p:cNvSpPr/>
          <p:nvPr/>
        </p:nvSpPr>
        <p:spPr>
          <a:xfrm>
            <a:off x="2057400" y="1097280"/>
            <a:ext cx="6629400" cy="3474720"/>
          </a:xfrm>
          <a:prstGeom prst="roundRect">
            <a:avLst>
              <a:gd name="adj" fmla="val 2105"/>
            </a:avLst>
          </a:prstGeom>
          <a:solidFill>
            <a:schemeClr val="bg2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2194560" y="1161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AWS VPC · EKS cluster</a:t>
            </a:r>
            <a:endParaRPr lang="en-US" sz="1100" dirty="0"/>
          </a:p>
        </p:txBody>
      </p:sp>
      <p:sp>
        <p:nvSpPr>
          <p:cNvPr id="5" name="box-User"/>
          <p:cNvSpPr/>
          <p:nvPr/>
        </p:nvSpPr>
        <p:spPr>
          <a:xfrm>
            <a:off x="457200" y="2331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User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browser</a:t>
            </a:r>
            <a:endParaRPr lang="en-US" sz="1200" dirty="0"/>
          </a:p>
        </p:txBody>
      </p:sp>
      <p:sp>
        <p:nvSpPr>
          <p:cNvPr id="7" name="box-ELB + Ingress"/>
          <p:cNvSpPr/>
          <p:nvPr/>
        </p:nvSpPr>
        <p:spPr>
          <a:xfrm>
            <a:off x="2331720" y="2331720"/>
            <a:ext cx="12344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31720" y="2331720"/>
            <a:ext cx="12344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ELB + Ingress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NGINX</a:t>
            </a:r>
            <a:endParaRPr lang="en-US" sz="1200" dirty="0"/>
          </a:p>
        </p:txBody>
      </p:sp>
      <p:sp>
        <p:nvSpPr>
          <p:cNvPr id="9" name="box-Frontend ×2"/>
          <p:cNvSpPr/>
          <p:nvPr/>
        </p:nvSpPr>
        <p:spPr>
          <a:xfrm>
            <a:off x="4114800" y="16002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114800" y="160020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Frontend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React on nginx</a:t>
            </a:r>
            <a:endParaRPr lang="en-US" sz="1200" dirty="0"/>
          </a:p>
        </p:txBody>
      </p:sp>
      <p:sp>
        <p:nvSpPr>
          <p:cNvPr id="11" name="box-Backend ×2"/>
          <p:cNvSpPr/>
          <p:nvPr/>
        </p:nvSpPr>
        <p:spPr>
          <a:xfrm>
            <a:off x="4114800" y="306324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14800" y="3063240"/>
            <a:ext cx="14630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Backend ×2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FastAPI</a:t>
            </a:r>
            <a:endParaRPr lang="en-US" sz="1200" dirty="0"/>
          </a:p>
        </p:txBody>
      </p:sp>
      <p:sp>
        <p:nvSpPr>
          <p:cNvPr id="13" name="box-PostgreSQL"/>
          <p:cNvSpPr/>
          <p:nvPr/>
        </p:nvSpPr>
        <p:spPr>
          <a:xfrm>
            <a:off x="6217920" y="306324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306324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StatefulSet + EBS</a:t>
            </a:r>
            <a:endParaRPr lang="en-US" sz="1200" dirty="0"/>
          </a:p>
        </p:txBody>
      </p:sp>
      <p:sp>
        <p:nvSpPr>
          <p:cNvPr id="15" name="box-Prometheus"/>
          <p:cNvSpPr/>
          <p:nvPr/>
        </p:nvSpPr>
        <p:spPr>
          <a:xfrm>
            <a:off x="6217920" y="1600200"/>
            <a:ext cx="12801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600200"/>
            <a:ext cx="12801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+ Grafana</a:t>
            </a:r>
            <a:endParaRPr lang="en-US" sz="1200" dirty="0"/>
          </a:p>
        </p:txBody>
      </p:sp>
      <p:sp>
        <p:nvSpPr>
          <p:cNvPr id="17" name="box-ArgoCD"/>
          <p:cNvSpPr/>
          <p:nvPr/>
        </p:nvSpPr>
        <p:spPr>
          <a:xfrm>
            <a:off x="7635240" y="2331720"/>
            <a:ext cx="9144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635240" y="2331720"/>
            <a:ext cx="9144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ArgoCD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GitOps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691640" y="2697480"/>
            <a:ext cx="6400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3566160" y="1965960"/>
            <a:ext cx="548640" cy="5943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703320" y="201168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566160" y="2834640"/>
            <a:ext cx="548640" cy="59436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11880" y="31546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577840" y="3429000"/>
            <a:ext cx="640080" cy="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5577840" y="2148840"/>
            <a:ext cx="640080" cy="10058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566928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scrape /metrics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219456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Images pulled from GHCR (tag = commit SHA). ArgoCD syncs the Helm chart from Git.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pipeline: GitHub Actions</a:t>
            </a:r>
            <a:endParaRPr lang="en-US" sz="3000" dirty="0"/>
          </a:p>
        </p:txBody>
      </p:sp>
      <p:sp>
        <p:nvSpPr>
          <p:cNvPr id="3" name="step-Test"/>
          <p:cNvSpPr/>
          <p:nvPr/>
        </p:nvSpPr>
        <p:spPr>
          <a:xfrm>
            <a:off x="457200" y="1325880"/>
            <a:ext cx="1499616" cy="25146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-1"/>
          <p:cNvSpPr/>
          <p:nvPr/>
        </p:nvSpPr>
        <p:spPr>
          <a:xfrm>
            <a:off x="1014984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4984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11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Test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46888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pytest -v and the frontend build. Any failure stops the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75104" y="2578608"/>
            <a:ext cx="1463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tep-Build"/>
          <p:cNvSpPr/>
          <p:nvPr/>
        </p:nvSpPr>
        <p:spPr>
          <a:xfrm>
            <a:off x="2139696" y="1325880"/>
            <a:ext cx="1499616" cy="25146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badge-2"/>
          <p:cNvSpPr/>
          <p:nvPr/>
        </p:nvSpPr>
        <p:spPr>
          <a:xfrm>
            <a:off x="2697480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69748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39696" y="2011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Build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2276856" y="246888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docker build of the backend and frontend in a matrix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578608"/>
            <a:ext cx="1463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tep-Scan"/>
          <p:cNvSpPr/>
          <p:nvPr/>
        </p:nvSpPr>
        <p:spPr>
          <a:xfrm>
            <a:off x="3822192" y="1325880"/>
            <a:ext cx="1499616" cy="2514600"/>
          </a:xfrm>
          <a:prstGeom prst="roundRect">
            <a:avLst>
              <a:gd name="adj" fmla="val 6098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badge-3"/>
          <p:cNvSpPr/>
          <p:nvPr/>
        </p:nvSpPr>
        <p:spPr>
          <a:xfrm>
            <a:off x="4379976" y="1508760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7997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22192" y="2011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Scan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3959352" y="246888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Trivy: HIGH/CRITICAL fixable CVEs fail the build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40096" y="2578608"/>
            <a:ext cx="1463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tep-Push"/>
          <p:cNvSpPr/>
          <p:nvPr/>
        </p:nvSpPr>
        <p:spPr>
          <a:xfrm>
            <a:off x="5504688" y="1325880"/>
            <a:ext cx="1499616" cy="25146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badge-4"/>
          <p:cNvSpPr/>
          <p:nvPr/>
        </p:nvSpPr>
        <p:spPr>
          <a:xfrm>
            <a:off x="6062472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06247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504688" y="2011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Push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5641848" y="246888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to GHCR as :&lt;commit-sha&gt;, never :latest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22592" y="2578608"/>
            <a:ext cx="14630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tep-GitOps"/>
          <p:cNvSpPr/>
          <p:nvPr/>
        </p:nvSpPr>
        <p:spPr>
          <a:xfrm>
            <a:off x="7187184" y="1325880"/>
            <a:ext cx="1499616" cy="25146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badge-5"/>
          <p:cNvSpPr/>
          <p:nvPr/>
        </p:nvSpPr>
        <p:spPr>
          <a:xfrm>
            <a:off x="7744968" y="15087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74496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187184" y="2011680"/>
            <a:ext cx="1499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GitOps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7324344" y="2468880"/>
            <a:ext cx="122529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bot commits the new tag to values.yaml; ArgoCD syncs it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Runs on every push to main and every pull request. Pull requests build and scan but do not push or deploy.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DevSecOps: security built in</a:t>
            </a:r>
            <a:endParaRPr lang="en-US" sz="3000" dirty="0"/>
          </a:p>
        </p:txBody>
      </p:sp>
      <p:sp>
        <p:nvSpPr>
          <p:cNvPr id="3" name="trivy-card"/>
          <p:cNvSpPr/>
          <p:nvPr/>
        </p:nvSpPr>
        <p:spPr>
          <a:xfrm>
            <a:off x="457200" y="1188720"/>
            <a:ext cx="3931920" cy="3246120"/>
          </a:xfrm>
          <a:prstGeom prst="roundRect">
            <a:avLst>
              <a:gd name="adj" fmla="val 2817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Trivy gate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Scans the OS packages and the app dependencies of both images. Any HIGH or CRITICAL CVE that has a fix fails the pipeline, so only clean images reach GHCR.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Result: &lt;fill in from your pipeline run&gt;</a:t>
            </a:r>
            <a:endParaRPr lang="en-US" sz="1400" dirty="0"/>
          </a:p>
        </p:txBody>
      </p:sp>
      <p:sp>
        <p:nvSpPr>
          <p:cNvPr id="7" name="badge-✓"/>
          <p:cNvSpPr/>
          <p:nvPr/>
        </p:nvSpPr>
        <p:spPr>
          <a:xfrm>
            <a:off x="4709160" y="123444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09160" y="1234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18872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Non-root containers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212080" y="14996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UID 10001 / 101, all capabilities dropped, seccomp RuntimeDefault</a:t>
            </a:r>
            <a:endParaRPr lang="en-US" sz="1200" dirty="0"/>
          </a:p>
        </p:txBody>
      </p:sp>
      <p:sp>
        <p:nvSpPr>
          <p:cNvPr id="11" name="badge-✓"/>
          <p:cNvSpPr/>
          <p:nvPr/>
        </p:nvSpPr>
        <p:spPr>
          <a:xfrm>
            <a:off x="4709160" y="205740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7091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0116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 secrets in Git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212080" y="232257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GITHUB_TOKEN for GHCR; .env, tfvars and tfstate are git-ignored</a:t>
            </a:r>
            <a:endParaRPr lang="en-US" sz="1200" dirty="0"/>
          </a:p>
        </p:txBody>
      </p:sp>
      <p:sp>
        <p:nvSpPr>
          <p:cNvPr id="15" name="badge-✓"/>
          <p:cNvSpPr/>
          <p:nvPr/>
        </p:nvSpPr>
        <p:spPr>
          <a:xfrm>
            <a:off x="4709160" y="288036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0916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28346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Least privilege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31455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per-job workflow permissions; IRSA role for the EBS driver</a:t>
            </a:r>
            <a:endParaRPr lang="en-US" sz="1200" dirty="0"/>
          </a:p>
        </p:txBody>
      </p:sp>
      <p:sp>
        <p:nvSpPr>
          <p:cNvPr id="19" name="badge-✓"/>
          <p:cNvSpPr/>
          <p:nvPr/>
        </p:nvSpPr>
        <p:spPr>
          <a:xfrm>
            <a:off x="4709160" y="3703320"/>
            <a:ext cx="347472" cy="34747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09160" y="3703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12080" y="36576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Immutable tags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212080" y="396849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every pod traces back to the commit that built 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code: Terraform on AWS</a:t>
            </a:r>
            <a:endParaRPr lang="en-US" sz="3000" dirty="0"/>
          </a:p>
        </p:txBody>
      </p:sp>
      <p:sp>
        <p:nvSpPr>
          <p:cNvPr id="3" name="vpc"/>
          <p:cNvSpPr/>
          <p:nvPr/>
        </p:nvSpPr>
        <p:spPr>
          <a:xfrm>
            <a:off x="457200" y="1143000"/>
            <a:ext cx="493776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VPC 10.0.0.0/16 · ap-south-1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AZ-a</a:t>
            </a:r>
            <a:endParaRPr lang="en-US" sz="1100" dirty="0"/>
          </a:p>
        </p:txBody>
      </p:sp>
      <p:sp>
        <p:nvSpPr>
          <p:cNvPr id="6" name="box-Public subnet"/>
          <p:cNvSpPr/>
          <p:nvPr/>
        </p:nvSpPr>
        <p:spPr>
          <a:xfrm>
            <a:off x="685800" y="187452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10.0.0.0/24 · ELB · NAT</a:t>
            </a:r>
            <a:endParaRPr lang="en-US" sz="1200" dirty="0"/>
          </a:p>
        </p:txBody>
      </p:sp>
      <p:sp>
        <p:nvSpPr>
          <p:cNvPr id="8" name="box-Private subnet"/>
          <p:cNvSpPr/>
          <p:nvPr/>
        </p:nvSpPr>
        <p:spPr>
          <a:xfrm>
            <a:off x="68580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10.0.10.0/24 · EKS node t3.medium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1600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AZ-b</a:t>
            </a:r>
            <a:endParaRPr lang="en-US" sz="1100" dirty="0"/>
          </a:p>
        </p:txBody>
      </p:sp>
      <p:sp>
        <p:nvSpPr>
          <p:cNvPr id="11" name="box-Public subnet"/>
          <p:cNvSpPr/>
          <p:nvPr/>
        </p:nvSpPr>
        <p:spPr>
          <a:xfrm>
            <a:off x="3063240" y="1874520"/>
            <a:ext cx="21945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874520"/>
            <a:ext cx="21945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Public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10.0.1.0/24 · ELB</a:t>
            </a:r>
            <a:endParaRPr lang="en-US" sz="1200" dirty="0"/>
          </a:p>
        </p:txBody>
      </p:sp>
      <p:sp>
        <p:nvSpPr>
          <p:cNvPr id="13" name="box-Private subnet"/>
          <p:cNvSpPr/>
          <p:nvPr/>
        </p:nvSpPr>
        <p:spPr>
          <a:xfrm>
            <a:off x="3063240" y="2788920"/>
            <a:ext cx="2194560" cy="9144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6324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Private subnet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10.0.11.0/24 · EKS node t3.medium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3886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EKS control plane (managed by AWS)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15000" y="114300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Modules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715000" y="14447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terraform-aws-modules: vpc, eks, iam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715000" y="19842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Node group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715000" y="2286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managed AL2023 group, 2 × t3.medium (1–3)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715000" y="282549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Add-ons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715000" y="3127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CoreDNS, VPC CNI, kube-proxy, EBS CSI (IRSA)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715000" y="366674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Lifecycle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5715000" y="396849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init → plan → apply (~15 min) → destroy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Kubernetes: Helm + ArgoCD</a:t>
            </a:r>
            <a:endParaRPr lang="en-US" sz="3000" dirty="0"/>
          </a:p>
        </p:txBody>
      </p:sp>
      <p:sp>
        <p:nvSpPr>
          <p:cNvPr id="3" name="k8s-Deployments"/>
          <p:cNvSpPr/>
          <p:nvPr/>
        </p:nvSpPr>
        <p:spPr>
          <a:xfrm>
            <a:off x="457200" y="1188720"/>
            <a:ext cx="2423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Deployments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backend and frontend with 2 replicas each, HPA 2→5 on CPU, rolling updates, readiness and liveness probes</a:t>
            </a:r>
            <a:endParaRPr lang="en-US" sz="1200" dirty="0"/>
          </a:p>
        </p:txBody>
      </p:sp>
      <p:sp>
        <p:nvSpPr>
          <p:cNvPr id="6" name="k8s-Services"/>
          <p:cNvSpPr/>
          <p:nvPr/>
        </p:nvSpPr>
        <p:spPr>
          <a:xfrm>
            <a:off x="3063240" y="1188720"/>
            <a:ext cx="2423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46120" y="1325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69164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ClusterIP for the backend :8000, frontend :80 and postgres :5432</a:t>
            </a:r>
            <a:endParaRPr lang="en-US" sz="1200" dirty="0"/>
          </a:p>
        </p:txBody>
      </p:sp>
      <p:sp>
        <p:nvSpPr>
          <p:cNvPr id="9" name="k8s-Ingress"/>
          <p:cNvSpPr/>
          <p:nvPr/>
        </p:nvSpPr>
        <p:spPr>
          <a:xfrm>
            <a:off x="457200" y="2834640"/>
            <a:ext cx="2423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Ingress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NGINX routes / to the frontend and /api to the backend, behind an AWS ELB</a:t>
            </a:r>
            <a:endParaRPr lang="en-US" sz="1200" dirty="0"/>
          </a:p>
        </p:txBody>
      </p:sp>
      <p:sp>
        <p:nvSpPr>
          <p:cNvPr id="12" name="k8s-Data"/>
          <p:cNvSpPr/>
          <p:nvPr/>
        </p:nvSpPr>
        <p:spPr>
          <a:xfrm>
            <a:off x="3063240" y="2834640"/>
            <a:ext cx="24231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246120" y="297180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3337560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Postgres StatefulSet on a 5 Gi EBS volume; credentials in a Secret</a:t>
            </a:r>
            <a:endParaRPr lang="en-US" sz="1200" dirty="0"/>
          </a:p>
        </p:txBody>
      </p:sp>
      <p:sp>
        <p:nvSpPr>
          <p:cNvPr id="15" name="gitops"/>
          <p:cNvSpPr/>
          <p:nvPr/>
        </p:nvSpPr>
        <p:spPr>
          <a:xfrm>
            <a:off x="5806440" y="1188720"/>
            <a:ext cx="2880360" cy="3108960"/>
          </a:xfrm>
          <a:prstGeom prst="roundRect">
            <a:avLst>
              <a:gd name="adj" fmla="val 3175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035040" y="1325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GitOps loop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1783080"/>
            <a:ext cx="2514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bg2"/>
                </a:solidFill>
              </a:rPr>
              <a:t>CI pushes the image :sha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bg2"/>
                </a:solidFill>
              </a:rPr>
              <a:t>CI commits the tag to values.yaml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bg2"/>
                </a:solidFill>
              </a:rPr>
              <a:t>ArgoCD detects the drift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bg2"/>
                </a:solidFill>
              </a:rPr>
              <a:t>Helm renders and does a rolling update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bg2"/>
                </a:solidFill>
              </a:rPr>
              <a:t>selfHeal reverts any manual changes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Prometheus + Grafana</a:t>
            </a:r>
            <a:endParaRPr lang="en-US" sz="3000" dirty="0"/>
          </a:p>
        </p:txBody>
      </p:sp>
      <p:sp>
        <p:nvSpPr>
          <p:cNvPr id="3" name="box-FastAPI /metrics"/>
          <p:cNvSpPr/>
          <p:nvPr/>
        </p:nvSpPr>
        <p:spPr>
          <a:xfrm>
            <a:off x="45720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/metrics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instrumentator</a:t>
            </a:r>
            <a:endParaRPr lang="en-US" sz="1200" dirty="0"/>
          </a:p>
        </p:txBody>
      </p:sp>
      <p:sp>
        <p:nvSpPr>
          <p:cNvPr id="5" name="box-ServiceMonitor"/>
          <p:cNvSpPr/>
          <p:nvPr/>
        </p:nvSpPr>
        <p:spPr>
          <a:xfrm>
            <a:off x="274320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ServiceMonitor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scrape every 15 s</a:t>
            </a:r>
            <a:endParaRPr lang="en-US" sz="1200" dirty="0"/>
          </a:p>
        </p:txBody>
      </p:sp>
      <p:sp>
        <p:nvSpPr>
          <p:cNvPr id="7" name="box-Prometheus"/>
          <p:cNvSpPr/>
          <p:nvPr/>
        </p:nvSpPr>
        <p:spPr>
          <a:xfrm>
            <a:off x="5029200" y="137160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kube-prom-stack</a:t>
            </a:r>
            <a:endParaRPr lang="en-US" sz="1200" dirty="0"/>
          </a:p>
        </p:txBody>
      </p:sp>
      <p:sp>
        <p:nvSpPr>
          <p:cNvPr id="9" name="box-Grafana"/>
          <p:cNvSpPr/>
          <p:nvPr/>
        </p:nvSpPr>
        <p:spPr>
          <a:xfrm>
            <a:off x="7132320" y="1371600"/>
            <a:ext cx="155448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32320" y="1371600"/>
            <a:ext cx="155448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dashboard as code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94560" y="178308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480560" y="178308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583680" y="1783080"/>
            <a:ext cx="548640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panel-Request rate"/>
          <p:cNvSpPr/>
          <p:nvPr/>
        </p:nvSpPr>
        <p:spPr>
          <a:xfrm>
            <a:off x="45720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Request rate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req/s per endpoint</a:t>
            </a:r>
            <a:endParaRPr lang="en-US" sz="1200" dirty="0"/>
          </a:p>
        </p:txBody>
      </p:sp>
      <p:sp>
        <p:nvSpPr>
          <p:cNvPr id="17" name="panel-p95 latency"/>
          <p:cNvSpPr/>
          <p:nvPr/>
        </p:nvSpPr>
        <p:spPr>
          <a:xfrm>
            <a:off x="256032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274320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p95 latency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74320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histogram_quantile</a:t>
            </a:r>
            <a:endParaRPr lang="en-US" sz="1200" dirty="0"/>
          </a:p>
        </p:txBody>
      </p:sp>
      <p:sp>
        <p:nvSpPr>
          <p:cNvPr id="20" name="panel-Error rate"/>
          <p:cNvSpPr/>
          <p:nvPr/>
        </p:nvSpPr>
        <p:spPr>
          <a:xfrm>
            <a:off x="466344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84632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Error rate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5xx as % of traffic</a:t>
            </a:r>
            <a:endParaRPr lang="en-US" sz="1200" dirty="0"/>
          </a:p>
        </p:txBody>
      </p:sp>
      <p:sp>
        <p:nvSpPr>
          <p:cNvPr id="23" name="panel-Status mix"/>
          <p:cNvSpPr/>
          <p:nvPr/>
        </p:nvSpPr>
        <p:spPr>
          <a:xfrm>
            <a:off x="6766560" y="2651760"/>
            <a:ext cx="1920240" cy="1234440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949440" y="2788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Status mix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949440" y="32004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2xx / 4xx / 5xx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The dashboard ships as a ConfigMap, and Grafana's sidecar loads it automatically. scripts/load-test.sh generates traffic for the demo.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and next steps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Shift left: tests and Trivy run before anything is pushed or deployed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Git is the single source of truth: SHA tags plus ArgoCD give auditable, reversible deploys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Non-root and least-privilege defaults cost little when set up from day one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EKS needs add-ons (EBS CSI, Ingress) before stateful apps can run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Always run terraform destroy: NAT gateways and EKS bill by the hour</a:t>
            </a:r>
            <a:endParaRPr lang="en-US" sz="1500" dirty="0"/>
          </a:p>
        </p:txBody>
      </p:sp>
      <p:sp>
        <p:nvSpPr>
          <p:cNvPr id="4" name="next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94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806440" y="1325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806440" y="1783080"/>
            <a:ext cx="2697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User auth (OAuth2 + JWT)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TLS with cert-manager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Amazon RDS for the database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External Secrets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accent4"/>
                </a:solidFill>
              </a:rPr>
              <a:t>S3 remote state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pendWise">
  <a:themeElements>
    <a:clrScheme name="SpendWise">
      <a:dk1>
        <a:srgbClr val="1D2330"/>
      </a:dk1>
      <a:lt1>
        <a:srgbClr val="FFFFFF"/>
      </a:lt1>
      <a:dk2>
        <a:srgbClr val="0B3B37"/>
      </a:dk2>
      <a:lt2>
        <a:srgbClr val="EAF3F1"/>
      </a:lt2>
      <a:accent1>
        <a:srgbClr val="0F766E"/>
      </a:accent1>
      <a:accent2>
        <a:srgbClr val="5EEAD4"/>
      </a:accent2>
      <a:accent3>
        <a:srgbClr val="F59E0B"/>
      </a:accent3>
      <a:accent4>
        <a:srgbClr val="334155"/>
      </a:accent4>
      <a:accent5>
        <a:srgbClr val="64748B"/>
      </a:accent5>
      <a:accent6>
        <a:srgbClr val="B42318"/>
      </a:accent6>
      <a:hlink>
        <a:srgbClr val="0F766E"/>
      </a:hlink>
      <a:folHlink>
        <a:srgbClr val="334155"/>
      </a:folHlink>
    </a:clrScheme>
    <a:fontScheme name="SpendWi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SpendWise — DevSecOps Capstone</dc:title>
  <dc:subject>PptxGenJS Presentation</dc:subject>
  <dc:creator>SpendWise team</dc:creator>
  <cp:lastModifiedBy>SpendWise team</cp:lastModifiedBy>
  <cp:revision>1</cp:revision>
  <dcterms:created xsi:type="dcterms:W3CDTF">2026-10-15T13:50:58Z</dcterms:created>
  <dcterms:modified xsi:type="dcterms:W3CDTF">2026-10-15T13:50:58Z</dcterms:modified>
</cp:coreProperties>
</file>